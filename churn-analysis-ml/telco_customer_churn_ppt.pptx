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6110"/>
  </p:normalViewPr>
  <p:slideViewPr>
    <p:cSldViewPr snapToGrid="0" snapToObjects="1">
      <p:cViewPr>
        <p:scale>
          <a:sx n="154" d="100"/>
          <a:sy n="154" d="100"/>
        </p:scale>
        <p:origin x="464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0" y="3840480"/>
            <a:ext cx="2286000" cy="130302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0" y="3200400"/>
            <a:ext cx="1371600" cy="68580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Previsione dell'Abbandono
dei Clienti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8DF"/>
                </a:solidFill>
              </a:rPr>
              <a:t>Come identificare i clienti a rischio prima che se ne vadano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38912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7A9AB8"/>
                </a:solidFill>
              </a:rPr>
              <a:t>Machine Learning  ·  </a:t>
            </a:r>
            <a:r>
              <a:rPr sz="1100" b="0" i="0" dirty="0" err="1">
                <a:solidFill>
                  <a:srgbClr val="7A9AB8"/>
                </a:solidFill>
              </a:rPr>
              <a:t>Analisi</a:t>
            </a:r>
            <a:r>
              <a:rPr sz="1100" b="0" i="0" dirty="0">
                <a:solidFill>
                  <a:srgbClr val="7A9AB8"/>
                </a:solidFill>
              </a:rPr>
              <a:t> Dati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</a:rPr>
              <a:t>Il </a:t>
            </a:r>
            <a:r>
              <a:rPr sz="2600" b="1" i="0" dirty="0" err="1">
                <a:solidFill>
                  <a:srgbClr val="FFFFFF"/>
                </a:solidFill>
              </a:rPr>
              <a:t>Problema</a:t>
            </a:r>
            <a:r>
              <a:rPr sz="2600" b="1" i="0" dirty="0">
                <a:solidFill>
                  <a:srgbClr val="FFFFFF"/>
                </a:solidFill>
              </a:rPr>
              <a:t>: </a:t>
            </a:r>
            <a:r>
              <a:rPr sz="2600" b="1" i="0" dirty="0" err="1">
                <a:solidFill>
                  <a:srgbClr val="FFFFFF"/>
                </a:solidFill>
              </a:rPr>
              <a:t>Perché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i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Clienti</a:t>
            </a:r>
            <a:r>
              <a:rPr sz="2600" b="1" i="0" dirty="0">
                <a:solidFill>
                  <a:srgbClr val="FFFFFF"/>
                </a:solidFill>
              </a:rPr>
              <a:t> Se Ne Vanno?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C3E50"/>
                </a:solidFill>
              </a:rPr>
              <a:t>Churn = cliente che cancella il contratto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508760"/>
            <a:ext cx="49377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dirty="0" err="1">
                <a:solidFill>
                  <a:srgbClr val="1C2B38"/>
                </a:solidFill>
              </a:rPr>
              <a:t>Acquisire</a:t>
            </a:r>
            <a:r>
              <a:rPr sz="1350" b="0" dirty="0">
                <a:solidFill>
                  <a:srgbClr val="1C2B38"/>
                </a:solidFill>
              </a:rPr>
              <a:t> un nuovo </a:t>
            </a:r>
            <a:r>
              <a:rPr sz="1350" b="0" dirty="0" err="1">
                <a:solidFill>
                  <a:srgbClr val="1C2B38"/>
                </a:solidFill>
              </a:rPr>
              <a:t>cliente</a:t>
            </a:r>
            <a:r>
              <a:rPr sz="1350" b="0" dirty="0">
                <a:solidFill>
                  <a:srgbClr val="1C2B38"/>
                </a:solidFill>
              </a:rPr>
              <a:t> costa 5–7× di </a:t>
            </a:r>
            <a:r>
              <a:rPr sz="1350" b="0" dirty="0" err="1">
                <a:solidFill>
                  <a:srgbClr val="1C2B38"/>
                </a:solidFill>
              </a:rPr>
              <a:t>più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che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mantenerne</a:t>
            </a:r>
            <a:r>
              <a:rPr sz="1350" b="0" dirty="0">
                <a:solidFill>
                  <a:srgbClr val="1C2B38"/>
                </a:solidFill>
              </a:rPr>
              <a:t> uno </a:t>
            </a:r>
            <a:r>
              <a:rPr sz="1350" b="0" dirty="0" err="1">
                <a:solidFill>
                  <a:srgbClr val="1C2B38"/>
                </a:solidFill>
              </a:rPr>
              <a:t>esistente</a:t>
            </a:r>
            <a:r>
              <a:rPr sz="1350" b="0" dirty="0">
                <a:solidFill>
                  <a:srgbClr val="1C2B38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endParaRPr sz="1350" b="0" dirty="0">
              <a:solidFill>
                <a:srgbClr val="1C2B38"/>
              </a:solidFill>
            </a:endParaRPr>
          </a:p>
          <a:p>
            <a:pPr algn="l">
              <a:spcAft>
                <a:spcPts val="400"/>
              </a:spcAft>
            </a:pPr>
            <a:r>
              <a:rPr sz="1350" b="0" dirty="0">
                <a:solidFill>
                  <a:srgbClr val="1C2B38"/>
                </a:solidFill>
              </a:rPr>
              <a:t>Ogni </a:t>
            </a:r>
            <a:r>
              <a:rPr sz="1350" b="0" dirty="0" err="1">
                <a:solidFill>
                  <a:srgbClr val="1C2B38"/>
                </a:solidFill>
              </a:rPr>
              <a:t>cliente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perso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è</a:t>
            </a:r>
            <a:r>
              <a:rPr sz="1350" b="0" dirty="0">
                <a:solidFill>
                  <a:srgbClr val="1C2B38"/>
                </a:solidFill>
              </a:rPr>
              <a:t> un </a:t>
            </a:r>
            <a:r>
              <a:rPr sz="1350" b="0" dirty="0" err="1">
                <a:solidFill>
                  <a:srgbClr val="1C2B38"/>
                </a:solidFill>
              </a:rPr>
              <a:t>flusso</a:t>
            </a:r>
            <a:r>
              <a:rPr sz="1350" b="0" dirty="0">
                <a:solidFill>
                  <a:srgbClr val="1C2B38"/>
                </a:solidFill>
              </a:rPr>
              <a:t> di </a:t>
            </a:r>
            <a:r>
              <a:rPr sz="1350" b="0" dirty="0" err="1">
                <a:solidFill>
                  <a:srgbClr val="1C2B38"/>
                </a:solidFill>
              </a:rPr>
              <a:t>cassa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che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sparisce</a:t>
            </a:r>
            <a:r>
              <a:rPr sz="1350" b="0" dirty="0">
                <a:solidFill>
                  <a:srgbClr val="1C2B38"/>
                </a:solidFill>
              </a:rPr>
              <a:t> ogni mese.</a:t>
            </a:r>
          </a:p>
          <a:p>
            <a:pPr algn="l">
              <a:spcAft>
                <a:spcPts val="400"/>
              </a:spcAft>
            </a:pPr>
            <a:endParaRPr sz="1350" b="0" dirty="0">
              <a:solidFill>
                <a:srgbClr val="1C2B38"/>
              </a:solidFill>
            </a:endParaRPr>
          </a:p>
          <a:p>
            <a:pPr algn="l">
              <a:spcAft>
                <a:spcPts val="400"/>
              </a:spcAft>
            </a:pPr>
            <a:r>
              <a:rPr sz="1350" b="0" dirty="0">
                <a:solidFill>
                  <a:srgbClr val="1C2B38"/>
                </a:solidFill>
              </a:rPr>
              <a:t>Il </a:t>
            </a:r>
            <a:r>
              <a:rPr sz="1350" b="0" dirty="0" err="1">
                <a:solidFill>
                  <a:srgbClr val="1C2B38"/>
                </a:solidFill>
              </a:rPr>
              <a:t>problema</a:t>
            </a:r>
            <a:r>
              <a:rPr sz="1350" b="0" dirty="0">
                <a:solidFill>
                  <a:srgbClr val="1C2B38"/>
                </a:solidFill>
              </a:rPr>
              <a:t>: </a:t>
            </a:r>
            <a:r>
              <a:rPr sz="1350" b="0" dirty="0" err="1">
                <a:solidFill>
                  <a:srgbClr val="1C2B38"/>
                </a:solidFill>
              </a:rPr>
              <a:t>spesso</a:t>
            </a:r>
            <a:r>
              <a:rPr sz="1350" b="0" dirty="0">
                <a:solidFill>
                  <a:srgbClr val="1C2B38"/>
                </a:solidFill>
              </a:rPr>
              <a:t> non </a:t>
            </a:r>
            <a:r>
              <a:rPr sz="1350" b="0" dirty="0" err="1">
                <a:solidFill>
                  <a:srgbClr val="1C2B38"/>
                </a:solidFill>
              </a:rPr>
              <a:t>sappiamo</a:t>
            </a:r>
            <a:r>
              <a:rPr sz="1350" b="0" dirty="0">
                <a:solidFill>
                  <a:srgbClr val="1C2B38"/>
                </a:solidFill>
              </a:rPr>
              <a:t> chi </a:t>
            </a:r>
            <a:r>
              <a:rPr sz="1350" b="0" dirty="0" err="1">
                <a:solidFill>
                  <a:srgbClr val="1C2B38"/>
                </a:solidFill>
              </a:rPr>
              <a:t>sta</a:t>
            </a:r>
            <a:r>
              <a:rPr sz="1350" b="0" dirty="0">
                <a:solidFill>
                  <a:srgbClr val="1C2B38"/>
                </a:solidFill>
              </a:rPr>
              <a:t> per </a:t>
            </a:r>
            <a:r>
              <a:rPr sz="1350" b="0" dirty="0" err="1">
                <a:solidFill>
                  <a:srgbClr val="1C2B38"/>
                </a:solidFill>
              </a:rPr>
              <a:t>andarsene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fino</a:t>
            </a:r>
            <a:r>
              <a:rPr sz="1350" b="0" dirty="0">
                <a:solidFill>
                  <a:srgbClr val="1C2B38"/>
                </a:solidFill>
              </a:rPr>
              <a:t> a </a:t>
            </a:r>
            <a:r>
              <a:rPr sz="1350" b="0" dirty="0" err="1">
                <a:solidFill>
                  <a:srgbClr val="1C2B38"/>
                </a:solidFill>
              </a:rPr>
              <a:t>quando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è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troppo</a:t>
            </a:r>
            <a:r>
              <a:rPr sz="1350" b="0" dirty="0">
                <a:solidFill>
                  <a:srgbClr val="1C2B38"/>
                </a:solidFill>
              </a:rPr>
              <a:t> </a:t>
            </a:r>
            <a:r>
              <a:rPr sz="1350" b="0" dirty="0" err="1">
                <a:solidFill>
                  <a:srgbClr val="1C2B38"/>
                </a:solidFill>
              </a:rPr>
              <a:t>tardi</a:t>
            </a:r>
            <a:r>
              <a:rPr sz="1350" b="0" dirty="0">
                <a:solidFill>
                  <a:srgbClr val="1C2B38"/>
                </a:solidFill>
              </a:rPr>
              <a:t>.</a:t>
            </a:r>
          </a:p>
          <a:p>
            <a:pPr algn="l">
              <a:spcAft>
                <a:spcPts val="400"/>
              </a:spcAft>
            </a:pPr>
            <a:endParaRPr sz="1350" b="0" dirty="0">
              <a:solidFill>
                <a:srgbClr val="1C2B38"/>
              </a:solidFill>
            </a:endParaRPr>
          </a:p>
          <a:p>
            <a:pPr algn="l">
              <a:spcAft>
                <a:spcPts val="400"/>
              </a:spcAft>
            </a:pPr>
            <a:r>
              <a:rPr sz="1350" b="1" dirty="0">
                <a:solidFill>
                  <a:srgbClr val="4A90B4"/>
                </a:solidFill>
              </a:rPr>
              <a:t>La </a:t>
            </a:r>
            <a:r>
              <a:rPr sz="1350" b="1" dirty="0" err="1">
                <a:solidFill>
                  <a:srgbClr val="4A90B4"/>
                </a:solidFill>
              </a:rPr>
              <a:t>soluzione</a:t>
            </a:r>
            <a:r>
              <a:rPr sz="1350" b="1" dirty="0">
                <a:solidFill>
                  <a:srgbClr val="4A90B4"/>
                </a:solidFill>
              </a:rPr>
              <a:t>: un </a:t>
            </a:r>
            <a:r>
              <a:rPr sz="1350" b="1" dirty="0" err="1">
                <a:solidFill>
                  <a:srgbClr val="4A90B4"/>
                </a:solidFill>
              </a:rPr>
              <a:t>sistema</a:t>
            </a:r>
            <a:r>
              <a:rPr sz="1350" b="1" dirty="0">
                <a:solidFill>
                  <a:srgbClr val="4A90B4"/>
                </a:solidFill>
              </a:rPr>
              <a:t> </a:t>
            </a:r>
            <a:r>
              <a:rPr sz="1350" b="1" dirty="0" err="1">
                <a:solidFill>
                  <a:srgbClr val="4A90B4"/>
                </a:solidFill>
              </a:rPr>
              <a:t>che</a:t>
            </a:r>
            <a:r>
              <a:rPr sz="1350" b="1" dirty="0">
                <a:solidFill>
                  <a:srgbClr val="4A90B4"/>
                </a:solidFill>
              </a:rPr>
              <a:t> lo </a:t>
            </a:r>
            <a:r>
              <a:rPr sz="1350" b="1" dirty="0" err="1">
                <a:solidFill>
                  <a:srgbClr val="4A90B4"/>
                </a:solidFill>
              </a:rPr>
              <a:t>prevede</a:t>
            </a:r>
            <a:r>
              <a:rPr sz="1350" b="1" dirty="0">
                <a:solidFill>
                  <a:srgbClr val="4A90B4"/>
                </a:solidFill>
              </a:rPr>
              <a:t> in </a:t>
            </a:r>
            <a:r>
              <a:rPr sz="1350" b="1" dirty="0" err="1">
                <a:solidFill>
                  <a:srgbClr val="4A90B4"/>
                </a:solidFill>
              </a:rPr>
              <a:t>anticipo</a:t>
            </a:r>
            <a:r>
              <a:rPr sz="1350" b="1" dirty="0">
                <a:solidFill>
                  <a:srgbClr val="4A90B4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868680"/>
            <a:ext cx="3383280" cy="3840480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0" y="868680"/>
            <a:ext cx="338328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577840" y="9601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Il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417320"/>
            <a:ext cx="1508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23560" y="1417320"/>
            <a:ext cx="150876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1527048"/>
            <a:ext cx="14173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85C1E9"/>
                </a:solidFill>
              </a:rPr>
              <a:t>7.0</a:t>
            </a:r>
            <a:r>
              <a:rPr lang="en-US" sz="3400" b="1" i="0" dirty="0">
                <a:solidFill>
                  <a:srgbClr val="85C1E9"/>
                </a:solidFill>
              </a:rPr>
              <a:t>3</a:t>
            </a:r>
            <a:r>
              <a:rPr lang="en-US" sz="3400" b="1" dirty="0">
                <a:solidFill>
                  <a:srgbClr val="85C1E9"/>
                </a:solidFill>
              </a:rPr>
              <a:t>2</a:t>
            </a:r>
            <a:endParaRPr sz="3400" b="1" i="0" dirty="0">
              <a:solidFill>
                <a:srgbClr val="85C1E9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0" y="2053742"/>
            <a:ext cx="1417319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clienti analizzati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1417320"/>
            <a:ext cx="1508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69480" y="1417320"/>
            <a:ext cx="150876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0" y="1527048"/>
            <a:ext cx="14173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85C1E9"/>
                </a:solidFill>
              </a:rPr>
              <a:t>26,</a:t>
            </a:r>
            <a:r>
              <a:rPr lang="en-US" sz="3400" b="1" dirty="0">
                <a:solidFill>
                  <a:srgbClr val="85C1E9"/>
                </a:solidFill>
              </a:rPr>
              <a:t>6</a:t>
            </a:r>
            <a:r>
              <a:rPr sz="3400" b="1" i="0" dirty="0">
                <a:solidFill>
                  <a:srgbClr val="85C1E9"/>
                </a:solidFill>
              </a:rPr>
              <a:t>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053742"/>
            <a:ext cx="1417319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tasso di abbandono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23560" y="2651760"/>
            <a:ext cx="1508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2651760"/>
            <a:ext cx="150876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2761488"/>
            <a:ext cx="141731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85C1E9"/>
                </a:solidFill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288182"/>
            <a:ext cx="1417319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variabili usate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2651760"/>
            <a:ext cx="150876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69480" y="2651760"/>
            <a:ext cx="150876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0" y="2761488"/>
            <a:ext cx="14173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>
                <a:solidFill>
                  <a:srgbClr val="85C1E9"/>
                </a:solidFill>
              </a:rPr>
              <a:t>8</a:t>
            </a:r>
            <a:r>
              <a:rPr lang="en-US" sz="3400" b="1" i="0" dirty="0">
                <a:solidFill>
                  <a:srgbClr val="85C1E9"/>
                </a:solidFill>
              </a:rPr>
              <a:t>1</a:t>
            </a:r>
            <a:r>
              <a:rPr sz="3400" b="1" i="0" dirty="0">
                <a:solidFill>
                  <a:srgbClr val="85C1E9"/>
                </a:solidFill>
              </a:rPr>
              <a:t>,</a:t>
            </a:r>
            <a:r>
              <a:rPr lang="en-US" sz="3400" b="1" dirty="0">
                <a:solidFill>
                  <a:srgbClr val="85C1E9"/>
                </a:solidFill>
              </a:rPr>
              <a:t>8</a:t>
            </a:r>
            <a:r>
              <a:rPr sz="3400" b="1" i="0" dirty="0">
                <a:solidFill>
                  <a:srgbClr val="85C1E9"/>
                </a:solidFill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88182"/>
            <a:ext cx="1417319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D6D7E"/>
                </a:solidFill>
              </a:rPr>
              <a:t>clienti a rischio
catturati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886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D6D7E"/>
                </a:solidFill>
              </a:rPr>
              <a:t>Settore: Telecomunicazioni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Come Funziona il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C3E50"/>
                </a:solidFill>
              </a:rPr>
              <a:t>In tre passi semplici: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2651760" cy="64008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" y="1508760"/>
            <a:ext cx="411480" cy="50292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Raccogliamo i dati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057400"/>
            <a:ext cx="2468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Contratto, servizi attivi, durata, pagamenti, supporto tecnico ricevuto.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54680" y="141732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54680" y="1417320"/>
            <a:ext cx="2651760" cy="64008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508760"/>
            <a:ext cx="411480" cy="50292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46120" y="15087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Il modello analizza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2057400"/>
            <a:ext cx="2468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Un algoritmo addestrato su migliaia di clienti identifica i pattern di abbandono.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417320"/>
            <a:ext cx="26517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80760" y="1417320"/>
            <a:ext cx="2651760" cy="64008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1508760"/>
            <a:ext cx="411480" cy="50292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72200" y="15087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Lista di priorità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057400"/>
            <a:ext cx="24688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Output: lista dei clienti con alta probabilità di andarsene, ordinata per rischio.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0779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90B4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3872" y="24688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90B4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25196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D6D7E"/>
                </a:solidFill>
              </a:rPr>
              <a:t>Il team commerciale riceve la lista e contatta i clienti a rischio con offerte mirate.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 Dati: Chi Sono i Clienti?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Cosa sappiamo di ogni cliente: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417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Profilo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Anziani, partner, figli a carico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9384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19293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Contratto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929384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Mensile, annuale, biennale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4144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441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Servizi attivi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4144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Internet, telefono, sicurezza, backup, TV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953512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9535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Pagamenti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95351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C2B38"/>
                </a:solidFill>
              </a:rPr>
              <a:t>Modalità</a:t>
            </a:r>
            <a:r>
              <a:rPr sz="1200" b="0" i="0" dirty="0">
                <a:solidFill>
                  <a:srgbClr val="1C2B38"/>
                </a:solidFill>
              </a:rPr>
              <a:t> e </a:t>
            </a:r>
            <a:r>
              <a:rPr sz="1200" b="0" i="0" dirty="0" err="1">
                <a:solidFill>
                  <a:srgbClr val="1C2B38"/>
                </a:solidFill>
              </a:rPr>
              <a:t>addebito</a:t>
            </a:r>
            <a:r>
              <a:rPr sz="1200" b="0" i="0" dirty="0">
                <a:solidFill>
                  <a:srgbClr val="1C2B38"/>
                </a:solidFill>
              </a:rPr>
              <a:t> </a:t>
            </a:r>
            <a:r>
              <a:rPr sz="1200" b="0" i="0" dirty="0" err="1">
                <a:solidFill>
                  <a:srgbClr val="1C2B38"/>
                </a:solidFill>
              </a:rPr>
              <a:t>mensile</a:t>
            </a:r>
            <a:endParaRPr sz="1200" b="0" i="0" dirty="0">
              <a:solidFill>
                <a:srgbClr val="1C2B38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74320" y="3465576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4655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Storico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46557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C2B38"/>
                </a:solidFill>
              </a:rPr>
              <a:t>Mesi di </a:t>
            </a:r>
            <a:r>
              <a:rPr sz="1200" b="0" i="0" dirty="0" err="1">
                <a:solidFill>
                  <a:srgbClr val="1C2B38"/>
                </a:solidFill>
              </a:rPr>
              <a:t>permanenza</a:t>
            </a:r>
            <a:r>
              <a:rPr sz="1200" b="0" i="0" dirty="0">
                <a:solidFill>
                  <a:srgbClr val="1C2B38"/>
                </a:solidFill>
              </a:rPr>
              <a:t> come </a:t>
            </a:r>
            <a:r>
              <a:rPr sz="1200" b="0" i="0" dirty="0" err="1">
                <a:solidFill>
                  <a:srgbClr val="1C2B38"/>
                </a:solidFill>
              </a:rPr>
              <a:t>cliente</a:t>
            </a:r>
            <a:endParaRPr sz="1200" b="0" i="0" dirty="0">
              <a:solidFill>
                <a:srgbClr val="1C2B3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937760" y="868680"/>
            <a:ext cx="3977639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37760" y="868680"/>
            <a:ext cx="3977639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0" y="91440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Chi abbandona nel dataset</a:t>
            </a:r>
          </a:p>
        </p:txBody>
      </p:sp>
      <p:pic>
        <p:nvPicPr>
          <p:cNvPr id="25" name="Picture 24" descr="02_categorical_ch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25880"/>
            <a:ext cx="3886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8DF"/>
                </a:solidFill>
              </a:rPr>
              <a:t>Il Modello Scelto: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XGBoost Ottimizzato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65960"/>
            <a:ext cx="2606040" cy="1554480"/>
          </a:xfrm>
          <a:prstGeom prst="rect">
            <a:avLst/>
          </a:prstGeom>
          <a:solidFill>
            <a:srgbClr val="3A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2606040" cy="73152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2423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85C1E9"/>
                </a:solidFill>
              </a:rPr>
              <a:t>8</a:t>
            </a:r>
            <a:r>
              <a:rPr lang="en-US" sz="3800" b="1" i="0" dirty="0">
                <a:solidFill>
                  <a:srgbClr val="85C1E9"/>
                </a:solidFill>
              </a:rPr>
              <a:t>1</a:t>
            </a:r>
            <a:r>
              <a:rPr sz="3800" b="1" i="0" dirty="0">
                <a:solidFill>
                  <a:srgbClr val="85C1E9"/>
                </a:solidFill>
              </a:rPr>
              <a:t>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6207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F"/>
                </a:solidFill>
              </a:rPr>
              <a:t>Clienti a rischio
individuati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965960"/>
            <a:ext cx="2606040" cy="1554480"/>
          </a:xfrm>
          <a:prstGeom prst="rect">
            <a:avLst/>
          </a:prstGeom>
          <a:solidFill>
            <a:srgbClr val="3A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965960"/>
            <a:ext cx="2606040" cy="73152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2084831"/>
            <a:ext cx="242316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 dirty="0">
                <a:solidFill>
                  <a:srgbClr val="85C1E9"/>
                </a:solidFill>
              </a:rPr>
              <a:t>84,</a:t>
            </a:r>
            <a:r>
              <a:rPr lang="en-US" sz="3800" b="1" i="0" dirty="0">
                <a:solidFill>
                  <a:srgbClr val="85C1E9"/>
                </a:solidFill>
              </a:rPr>
              <a:t>1</a:t>
            </a:r>
            <a:r>
              <a:rPr sz="3800" b="1" i="0" dirty="0">
                <a:solidFill>
                  <a:srgbClr val="85C1E9"/>
                </a:solidFill>
              </a:rPr>
              <a:t>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86207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F"/>
                </a:solidFill>
              </a:rPr>
              <a:t>Accuratezza
globale (ROC-AUC)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965960"/>
            <a:ext cx="2606040" cy="1554480"/>
          </a:xfrm>
          <a:prstGeom prst="rect">
            <a:avLst/>
          </a:prstGeom>
          <a:solidFill>
            <a:srgbClr val="3A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26480" y="1965960"/>
            <a:ext cx="2606040" cy="73152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2084831"/>
            <a:ext cx="2423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85C1E9"/>
                </a:solidFill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62072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8DF"/>
                </a:solidFill>
              </a:rPr>
              <a:t>Prove di ottimizzazione
eseguite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703320"/>
            <a:ext cx="841248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 dirty="0" err="1">
                <a:solidFill>
                  <a:srgbClr val="B0C8DF"/>
                </a:solidFill>
              </a:rPr>
              <a:t>Perché</a:t>
            </a:r>
            <a:r>
              <a:rPr sz="1250" b="0" i="1" dirty="0">
                <a:solidFill>
                  <a:srgbClr val="B0C8DF"/>
                </a:solidFill>
              </a:rPr>
              <a:t> proprio </a:t>
            </a:r>
            <a:r>
              <a:rPr sz="1250" b="0" i="1" dirty="0" err="1">
                <a:solidFill>
                  <a:srgbClr val="B0C8DF"/>
                </a:solidFill>
              </a:rPr>
              <a:t>questo</a:t>
            </a:r>
            <a:r>
              <a:rPr sz="1250" b="0" i="1" dirty="0">
                <a:solidFill>
                  <a:srgbClr val="B0C8DF"/>
                </a:solidFill>
              </a:rPr>
              <a:t> </a:t>
            </a:r>
            <a:r>
              <a:rPr sz="1250" b="0" i="1" dirty="0" err="1">
                <a:solidFill>
                  <a:srgbClr val="B0C8DF"/>
                </a:solidFill>
              </a:rPr>
              <a:t>modello</a:t>
            </a:r>
            <a:r>
              <a:rPr sz="1250" b="0" i="1" dirty="0">
                <a:solidFill>
                  <a:srgbClr val="B0C8DF"/>
                </a:solidFill>
              </a:rPr>
              <a:t>? </a:t>
            </a:r>
            <a:r>
              <a:rPr sz="1250" b="0" i="1" dirty="0" err="1">
                <a:solidFill>
                  <a:srgbClr val="B0C8DF"/>
                </a:solidFill>
              </a:rPr>
              <a:t>Cattura</a:t>
            </a:r>
            <a:r>
              <a:rPr sz="1250" b="0" i="1" dirty="0">
                <a:solidFill>
                  <a:srgbClr val="B0C8DF"/>
                </a:solidFill>
              </a:rPr>
              <a:t> il </a:t>
            </a:r>
            <a:r>
              <a:rPr sz="1250" b="0" i="1" dirty="0" err="1">
                <a:solidFill>
                  <a:srgbClr val="B0C8DF"/>
                </a:solidFill>
              </a:rPr>
              <a:t>maggior</a:t>
            </a:r>
            <a:r>
              <a:rPr sz="1250" b="0" i="1" dirty="0">
                <a:solidFill>
                  <a:srgbClr val="B0C8DF"/>
                </a:solidFill>
              </a:rPr>
              <a:t> </a:t>
            </a:r>
            <a:r>
              <a:rPr sz="1250" b="0" i="1" dirty="0" err="1">
                <a:solidFill>
                  <a:srgbClr val="B0C8DF"/>
                </a:solidFill>
              </a:rPr>
              <a:t>numero</a:t>
            </a:r>
            <a:r>
              <a:rPr sz="1250" b="0" i="1" dirty="0">
                <a:solidFill>
                  <a:srgbClr val="B0C8DF"/>
                </a:solidFill>
              </a:rPr>
              <a:t> </a:t>
            </a:r>
            <a:r>
              <a:rPr sz="1250" b="0" i="1" dirty="0" err="1">
                <a:solidFill>
                  <a:srgbClr val="B0C8DF"/>
                </a:solidFill>
              </a:rPr>
              <a:t>possibile</a:t>
            </a:r>
            <a:r>
              <a:rPr sz="1250" b="0" i="1" dirty="0">
                <a:solidFill>
                  <a:srgbClr val="B0C8DF"/>
                </a:solidFill>
              </a:rPr>
              <a:t> di </a:t>
            </a:r>
            <a:r>
              <a:rPr sz="1250" b="0" i="1" dirty="0" err="1">
                <a:solidFill>
                  <a:srgbClr val="B0C8DF"/>
                </a:solidFill>
              </a:rPr>
              <a:t>clienti</a:t>
            </a:r>
            <a:r>
              <a:rPr sz="1250" b="0" i="1" dirty="0">
                <a:solidFill>
                  <a:srgbClr val="B0C8DF"/>
                </a:solidFill>
              </a:rPr>
              <a:t> a </a:t>
            </a:r>
            <a:r>
              <a:rPr sz="1250" b="0" i="1" dirty="0" err="1">
                <a:solidFill>
                  <a:srgbClr val="B0C8DF"/>
                </a:solidFill>
              </a:rPr>
              <a:t>rischio</a:t>
            </a:r>
            <a:r>
              <a:rPr lang="en-US" sz="1250" b="0" i="1">
                <a:solidFill>
                  <a:srgbClr val="B0C8DF"/>
                </a:solidFill>
              </a:rPr>
              <a:t>,</a:t>
            </a:r>
            <a:r>
              <a:rPr sz="1250" b="0" i="1">
                <a:solidFill>
                  <a:srgbClr val="B0C8DF"/>
                </a:solidFill>
              </a:rPr>
              <a:t> </a:t>
            </a:r>
            <a:r>
              <a:rPr sz="1250" b="0" i="1" dirty="0">
                <a:solidFill>
                  <a:srgbClr val="B0C8DF"/>
                </a:solidFill>
              </a:rPr>
              <a:t>
il </a:t>
            </a:r>
            <a:r>
              <a:rPr sz="1250" b="0" i="1" dirty="0" err="1">
                <a:solidFill>
                  <a:srgbClr val="B0C8DF"/>
                </a:solidFill>
              </a:rPr>
              <a:t>costo</a:t>
            </a:r>
            <a:r>
              <a:rPr sz="1250" b="0" i="1" dirty="0">
                <a:solidFill>
                  <a:srgbClr val="B0C8DF"/>
                </a:solidFill>
              </a:rPr>
              <a:t> di non </a:t>
            </a:r>
            <a:r>
              <a:rPr sz="1250" b="0" i="1" dirty="0" err="1">
                <a:solidFill>
                  <a:srgbClr val="B0C8DF"/>
                </a:solidFill>
              </a:rPr>
              <a:t>intervenire</a:t>
            </a:r>
            <a:r>
              <a:rPr sz="1250" b="0" i="1" dirty="0">
                <a:solidFill>
                  <a:srgbClr val="B0C8DF"/>
                </a:solidFill>
              </a:rPr>
              <a:t> </a:t>
            </a:r>
            <a:r>
              <a:rPr sz="1250" b="0" i="1" dirty="0" err="1">
                <a:solidFill>
                  <a:srgbClr val="B0C8DF"/>
                </a:solidFill>
              </a:rPr>
              <a:t>su</a:t>
            </a:r>
            <a:r>
              <a:rPr sz="1250" b="0" i="1" dirty="0">
                <a:solidFill>
                  <a:srgbClr val="B0C8DF"/>
                </a:solidFill>
              </a:rPr>
              <a:t> un churner </a:t>
            </a:r>
            <a:r>
              <a:rPr sz="1250" b="0" i="1" dirty="0" err="1">
                <a:solidFill>
                  <a:srgbClr val="B0C8DF"/>
                </a:solidFill>
              </a:rPr>
              <a:t>è</a:t>
            </a:r>
            <a:r>
              <a:rPr sz="1250" b="0" i="1" dirty="0">
                <a:solidFill>
                  <a:srgbClr val="B0C8DF"/>
                </a:solidFill>
              </a:rPr>
              <a:t> molto </a:t>
            </a:r>
            <a:r>
              <a:rPr sz="1250" b="0" i="1" dirty="0" err="1">
                <a:solidFill>
                  <a:srgbClr val="B0C8DF"/>
                </a:solidFill>
              </a:rPr>
              <a:t>più</a:t>
            </a:r>
            <a:r>
              <a:rPr sz="1250" b="0" i="1" dirty="0">
                <a:solidFill>
                  <a:srgbClr val="B0C8DF"/>
                </a:solidFill>
              </a:rPr>
              <a:t> alto del </a:t>
            </a:r>
            <a:r>
              <a:rPr sz="1250" b="0" i="1" dirty="0" err="1">
                <a:solidFill>
                  <a:srgbClr val="B0C8DF"/>
                </a:solidFill>
              </a:rPr>
              <a:t>costo</a:t>
            </a:r>
            <a:r>
              <a:rPr sz="1250" b="0" i="1" dirty="0">
                <a:solidFill>
                  <a:srgbClr val="B0C8DF"/>
                </a:solidFill>
              </a:rPr>
              <a:t> di </a:t>
            </a:r>
            <a:r>
              <a:rPr sz="1250" b="0" i="1" dirty="0" err="1">
                <a:solidFill>
                  <a:srgbClr val="B0C8DF"/>
                </a:solidFill>
              </a:rPr>
              <a:t>un'offerta</a:t>
            </a:r>
            <a:r>
              <a:rPr sz="1250" b="0" i="1" dirty="0">
                <a:solidFill>
                  <a:srgbClr val="B0C8DF"/>
                </a:solidFill>
              </a:rPr>
              <a:t> </a:t>
            </a:r>
            <a:r>
              <a:rPr sz="1250" b="0" i="1" dirty="0" err="1">
                <a:solidFill>
                  <a:srgbClr val="B0C8DF"/>
                </a:solidFill>
              </a:rPr>
              <a:t>sbagliata</a:t>
            </a:r>
            <a:r>
              <a:rPr sz="1250" b="0" i="1" dirty="0">
                <a:solidFill>
                  <a:srgbClr val="B0C8DF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 Risultati: Cosa Vede il Modello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Su 1.407 clienti nel set di test: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4A90B4"/>
                </a:solidFill>
              </a:rPr>
              <a:t>✔  72</a:t>
            </a:r>
            <a:r>
              <a:rPr lang="en-US" sz="1300" b="1" dirty="0">
                <a:solidFill>
                  <a:srgbClr val="4A90B4"/>
                </a:solidFill>
              </a:rPr>
              <a:t>0</a:t>
            </a:r>
            <a:endParaRPr sz="1300" b="1" i="0" dirty="0">
              <a:solidFill>
                <a:srgbClr val="4A90B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91640" y="1417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clienti non a rischio correttamente identificati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4A90B4"/>
                </a:solidFill>
              </a:rPr>
              <a:t>✔  30</a:t>
            </a:r>
            <a:r>
              <a:rPr lang="en-US" sz="1300" b="1" dirty="0">
                <a:solidFill>
                  <a:srgbClr val="4A90B4"/>
                </a:solidFill>
              </a:rPr>
              <a:t>6</a:t>
            </a:r>
            <a:endParaRPr sz="1300" b="1" i="0" dirty="0">
              <a:solidFill>
                <a:srgbClr val="4A90B4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91640" y="2011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clienti a rischio correttamente catturati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05A4A"/>
                </a:solidFill>
              </a:rPr>
              <a:t>✗  </a:t>
            </a:r>
            <a:r>
              <a:rPr lang="en-US" sz="1300" b="1" dirty="0">
                <a:solidFill>
                  <a:srgbClr val="E05A4A"/>
                </a:solidFill>
              </a:rPr>
              <a:t>68</a:t>
            </a:r>
            <a:endParaRPr sz="1300" b="1" i="0" dirty="0">
              <a:solidFill>
                <a:srgbClr val="E05A4A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91640" y="2606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 err="1">
                <a:solidFill>
                  <a:srgbClr val="1C2B38"/>
                </a:solidFill>
              </a:rPr>
              <a:t>clienti</a:t>
            </a:r>
            <a:r>
              <a:rPr sz="1200" b="0" i="0" dirty="0">
                <a:solidFill>
                  <a:srgbClr val="1C2B38"/>
                </a:solidFill>
              </a:rPr>
              <a:t> a </a:t>
            </a:r>
            <a:r>
              <a:rPr sz="1200" b="0" i="0" dirty="0" err="1">
                <a:solidFill>
                  <a:srgbClr val="1C2B38"/>
                </a:solidFill>
              </a:rPr>
              <a:t>rischio</a:t>
            </a:r>
            <a:r>
              <a:rPr sz="1200" b="0" i="0" dirty="0">
                <a:solidFill>
                  <a:srgbClr val="1C2B38"/>
                </a:solidFill>
              </a:rPr>
              <a:t> non </a:t>
            </a:r>
            <a:r>
              <a:rPr sz="1200" b="0" i="0" dirty="0" err="1">
                <a:solidFill>
                  <a:srgbClr val="1C2B38"/>
                </a:solidFill>
              </a:rPr>
              <a:t>individuati</a:t>
            </a:r>
            <a:r>
              <a:rPr sz="1200" b="0" i="0" dirty="0">
                <a:solidFill>
                  <a:srgbClr val="1C2B38"/>
                </a:solidFill>
              </a:rPr>
              <a:t> (</a:t>
            </a:r>
            <a:r>
              <a:rPr sz="1200" b="0" i="0" dirty="0" err="1">
                <a:solidFill>
                  <a:srgbClr val="1C2B38"/>
                </a:solidFill>
              </a:rPr>
              <a:t>falsi</a:t>
            </a:r>
            <a:r>
              <a:rPr sz="1200" b="0" i="0" dirty="0">
                <a:solidFill>
                  <a:srgbClr val="1C2B38"/>
                </a:solidFill>
              </a:rPr>
              <a:t> </a:t>
            </a:r>
            <a:r>
              <a:rPr sz="1200" b="0" i="0" dirty="0" err="1">
                <a:solidFill>
                  <a:srgbClr val="1C2B38"/>
                </a:solidFill>
              </a:rPr>
              <a:t>negativi</a:t>
            </a:r>
            <a:r>
              <a:rPr sz="1200" b="0" i="0" dirty="0">
                <a:solidFill>
                  <a:srgbClr val="1C2B38"/>
                </a:solidFill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200400"/>
            <a:ext cx="137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05A4A"/>
                </a:solidFill>
              </a:rPr>
              <a:t>✗  31</a:t>
            </a:r>
            <a:r>
              <a:rPr lang="en-US" sz="1300" b="1" dirty="0">
                <a:solidFill>
                  <a:srgbClr val="E05A4A"/>
                </a:solidFill>
              </a:rPr>
              <a:t>3</a:t>
            </a:r>
            <a:endParaRPr sz="1300" b="1" i="0" dirty="0">
              <a:solidFill>
                <a:srgbClr val="E05A4A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91640" y="32004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clienti non a rischio contattati per errore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404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5D6D7E"/>
                </a:solidFill>
              </a:rPr>
              <a:t>L'obiettivo principale era minimizzare i falsi negativi:
meglio contattare qualcuno in più piuttosto che perdere un churner.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868680"/>
            <a:ext cx="40690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846320" y="868680"/>
            <a:ext cx="406908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37760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Matrice di Confusione — XGBoost Ottimizzato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A6BCFEE4-F687-780A-CFE3-7F8FD482C9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480" y="1443008"/>
            <a:ext cx="3606165" cy="2910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Chi Rischia di Andarsene?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4297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I principali segnali di rischio: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8132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4356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Contratto mensile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37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8"/>
                </a:solidFill>
              </a:rPr>
              <a:t>Chi non ha un piano fisso abbandona 3× di più rispetto a chi ha un contratto annuale o biennale.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7568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2029967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Poca anzianità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31720"/>
            <a:ext cx="41148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1C2B38"/>
                </a:solidFill>
              </a:rPr>
              <a:t>I </a:t>
            </a:r>
            <a:r>
              <a:rPr sz="1050" b="0" i="0" dirty="0" err="1">
                <a:solidFill>
                  <a:srgbClr val="1C2B38"/>
                </a:solidFill>
              </a:rPr>
              <a:t>clienti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nei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primi</a:t>
            </a:r>
            <a:r>
              <a:rPr sz="1050" b="0" i="0" dirty="0">
                <a:solidFill>
                  <a:srgbClr val="1C2B38"/>
                </a:solidFill>
              </a:rPr>
              <a:t> 12 </a:t>
            </a:r>
            <a:r>
              <a:rPr sz="1050" b="0" i="0" dirty="0" err="1">
                <a:solidFill>
                  <a:srgbClr val="1C2B38"/>
                </a:solidFill>
              </a:rPr>
              <a:t>mesi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sono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i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più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vulnerabili</a:t>
            </a:r>
            <a:r>
              <a:rPr lang="en-US" sz="1050" dirty="0">
                <a:solidFill>
                  <a:srgbClr val="1C2B38"/>
                </a:solidFill>
              </a:rPr>
              <a:t>,</a:t>
            </a:r>
            <a:r>
              <a:rPr sz="1050" b="0" i="0" dirty="0">
                <a:solidFill>
                  <a:srgbClr val="1C2B38"/>
                </a:solidFill>
              </a:rPr>
              <a:t> il </a:t>
            </a:r>
            <a:r>
              <a:rPr sz="1050" b="0" i="0" dirty="0" err="1">
                <a:solidFill>
                  <a:srgbClr val="1C2B38"/>
                </a:solidFill>
              </a:rPr>
              <a:t>rischio</a:t>
            </a:r>
            <a:r>
              <a:rPr sz="1050" b="0" i="0" dirty="0">
                <a:solidFill>
                  <a:srgbClr val="1C2B38"/>
                </a:solidFill>
              </a:rPr>
              <a:t> cala </a:t>
            </a:r>
            <a:r>
              <a:rPr sz="1050" b="0" i="0" dirty="0" err="1">
                <a:solidFill>
                  <a:srgbClr val="1C2B38"/>
                </a:solidFill>
              </a:rPr>
              <a:t>sensibilmente</a:t>
            </a:r>
            <a:r>
              <a:rPr sz="1050" b="0" i="0" dirty="0">
                <a:solidFill>
                  <a:srgbClr val="1C2B38"/>
                </a:solidFill>
              </a:rPr>
              <a:t> </a:t>
            </a:r>
            <a:r>
              <a:rPr sz="1050" b="0" i="0" dirty="0" err="1">
                <a:solidFill>
                  <a:srgbClr val="1C2B38"/>
                </a:solidFill>
              </a:rPr>
              <a:t>nel</a:t>
            </a:r>
            <a:r>
              <a:rPr sz="1050" b="0" i="0" dirty="0">
                <a:solidFill>
                  <a:srgbClr val="1C2B38"/>
                </a:solidFill>
              </a:rPr>
              <a:t> tempo.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7004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2" y="262432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Nessun supporto tecnico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92608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8"/>
                </a:solidFill>
              </a:rPr>
              <a:t>Chi non ha assistenza tecnica inclusa tende ad andarsene più facilmente.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6440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321868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Fibra ottica senza extra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35204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8"/>
                </a:solidFill>
              </a:rPr>
              <a:t>I clienti con internet in fibra ma senza servizi aggiuntivi mostrano alto rischio.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54864" cy="347472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8912" y="3813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Anziani senza partner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4114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C2B38"/>
                </a:solidFill>
              </a:rPr>
              <a:t>Il profilo demografico più a rischio: cliente anziano, senza familiari conviventi.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868680"/>
            <a:ext cx="40690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46320" y="868680"/>
            <a:ext cx="4069080" cy="54864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37760" y="9144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C3E50"/>
                </a:solidFill>
              </a:rPr>
              <a:t>Importanza delle Variabili (SHAP)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6CFFC8AC-C028-28C8-0070-037228684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105" y="1152144"/>
            <a:ext cx="3858575" cy="34655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Confronto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tra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i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Modelli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Testati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868680"/>
            <a:ext cx="85953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C2B38"/>
                </a:solidFill>
              </a:rPr>
              <a:t>Abbiamo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testato</a:t>
            </a:r>
            <a:r>
              <a:rPr sz="1300" b="0" i="0" dirty="0">
                <a:solidFill>
                  <a:srgbClr val="1C2B38"/>
                </a:solidFill>
              </a:rPr>
              <a:t> 3 </a:t>
            </a:r>
            <a:r>
              <a:rPr sz="1300" b="0" i="0" dirty="0" err="1">
                <a:solidFill>
                  <a:srgbClr val="1C2B38"/>
                </a:solidFill>
              </a:rPr>
              <a:t>algoritmi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diversi</a:t>
            </a:r>
            <a:r>
              <a:rPr sz="1300" b="0" i="0" dirty="0">
                <a:solidFill>
                  <a:srgbClr val="1C2B38"/>
                </a:solidFill>
              </a:rPr>
              <a:t> prima di </a:t>
            </a:r>
            <a:r>
              <a:rPr sz="1300" b="0" i="0" dirty="0" err="1">
                <a:solidFill>
                  <a:srgbClr val="1C2B38"/>
                </a:solidFill>
              </a:rPr>
              <a:t>scegliere</a:t>
            </a:r>
            <a:r>
              <a:rPr sz="1300" b="0" i="0" dirty="0">
                <a:solidFill>
                  <a:srgbClr val="1C2B38"/>
                </a:solidFill>
              </a:rPr>
              <a:t> il </a:t>
            </a:r>
            <a:r>
              <a:rPr sz="1300" b="0" i="0" dirty="0" err="1">
                <a:solidFill>
                  <a:srgbClr val="1C2B38"/>
                </a:solidFill>
              </a:rPr>
              <a:t>migliore</a:t>
            </a:r>
            <a:r>
              <a:rPr sz="1300" b="0" i="0" dirty="0">
                <a:solidFill>
                  <a:srgbClr val="1C2B38"/>
                </a:solidFill>
              </a:rPr>
              <a:t>. Il </a:t>
            </a:r>
            <a:r>
              <a:rPr sz="1300" b="0" i="0" dirty="0" err="1">
                <a:solidFill>
                  <a:srgbClr val="1C2B38"/>
                </a:solidFill>
              </a:rPr>
              <a:t>vincitore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è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stato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selezionato</a:t>
            </a:r>
            <a:r>
              <a:rPr sz="1300" b="0" i="0" dirty="0">
                <a:solidFill>
                  <a:srgbClr val="1C2B38"/>
                </a:solidFill>
              </a:rPr>
              <a:t> in base al Recall</a:t>
            </a:r>
            <a:r>
              <a:rPr lang="en-US" sz="1300" b="0" i="0" dirty="0">
                <a:solidFill>
                  <a:srgbClr val="1C2B38"/>
                </a:solidFill>
              </a:rPr>
              <a:t>,</a:t>
            </a:r>
            <a:r>
              <a:rPr sz="1300" b="0" i="0" dirty="0">
                <a:solidFill>
                  <a:srgbClr val="1C2B38"/>
                </a:solidFill>
              </a:rPr>
              <a:t> la </a:t>
            </a:r>
            <a:r>
              <a:rPr sz="1300" b="0" i="0" dirty="0" err="1">
                <a:solidFill>
                  <a:srgbClr val="1C2B38"/>
                </a:solidFill>
              </a:rPr>
              <a:t>metrica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più</a:t>
            </a:r>
            <a:r>
              <a:rPr sz="1300" b="0" i="0" dirty="0">
                <a:solidFill>
                  <a:srgbClr val="1C2B38"/>
                </a:solidFill>
              </a:rPr>
              <a:t> </a:t>
            </a:r>
            <a:r>
              <a:rPr sz="1300" b="0" i="0" dirty="0" err="1">
                <a:solidFill>
                  <a:srgbClr val="1C2B38"/>
                </a:solidFill>
              </a:rPr>
              <a:t>importante</a:t>
            </a:r>
            <a:r>
              <a:rPr sz="1300" b="0" i="0" dirty="0">
                <a:solidFill>
                  <a:srgbClr val="1C2B38"/>
                </a:solidFill>
              </a:rPr>
              <a:t> per </a:t>
            </a:r>
            <a:r>
              <a:rPr lang="en-US" sz="1300" b="0" i="0" dirty="0" err="1">
                <a:solidFill>
                  <a:srgbClr val="1C2B38"/>
                </a:solidFill>
              </a:rPr>
              <a:t>noi</a:t>
            </a:r>
            <a:r>
              <a:rPr sz="1300" b="0" i="0" dirty="0">
                <a:solidFill>
                  <a:srgbClr val="1C2B38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72768"/>
            <a:ext cx="2350008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Modello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572768"/>
            <a:ext cx="1344168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79" y="16459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572768"/>
            <a:ext cx="1389888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16459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40680" y="1572768"/>
            <a:ext cx="1389888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16459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F1-Score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572768"/>
            <a:ext cx="1389888" cy="47548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03720" y="1645920"/>
            <a:ext cx="1325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Accuratezza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48256"/>
            <a:ext cx="23500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1396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Regressione Logistica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048256"/>
            <a:ext cx="134416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97479" y="2139696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7</a:t>
            </a:r>
            <a:r>
              <a:rPr lang="en-US" sz="1200" b="0" i="0" dirty="0">
                <a:solidFill>
                  <a:srgbClr val="1C2B38"/>
                </a:solidFill>
              </a:rPr>
              <a:t>3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2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2048256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69080" y="2139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83,</a:t>
            </a:r>
            <a:r>
              <a:rPr lang="en-US" sz="1200" b="0" i="0" dirty="0">
                <a:solidFill>
                  <a:srgbClr val="1C2B38"/>
                </a:solidFill>
              </a:rPr>
              <a:t>3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2048256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2139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73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9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048256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03720" y="2139696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80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3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523744"/>
            <a:ext cx="2350008" cy="47548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6151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Random Forest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51760" y="2523744"/>
            <a:ext cx="1344168" cy="47548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97479" y="2615184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49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7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023360" y="2523744"/>
            <a:ext cx="1389888" cy="47548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069080" y="2615184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8</a:t>
            </a:r>
            <a:r>
              <a:rPr lang="en-US" sz="1200" b="0" i="0" dirty="0">
                <a:solidFill>
                  <a:srgbClr val="1C2B38"/>
                </a:solidFill>
              </a:rPr>
              <a:t>1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0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40680" y="2523744"/>
            <a:ext cx="1389888" cy="47548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0" y="2615184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53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9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523744"/>
            <a:ext cx="1389888" cy="475488"/>
          </a:xfrm>
          <a:prstGeom prst="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03720" y="2615184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77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4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99232"/>
            <a:ext cx="23500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30906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2999232"/>
            <a:ext cx="134416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97479" y="3090672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7</a:t>
            </a:r>
            <a:r>
              <a:rPr lang="en-US" sz="1200" b="0" i="0" dirty="0">
                <a:solidFill>
                  <a:srgbClr val="1C2B38"/>
                </a:solidFill>
              </a:rPr>
              <a:t>7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8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2999232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69080" y="3090672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83,</a:t>
            </a:r>
            <a:r>
              <a:rPr lang="en-US" sz="1200" b="0" i="0" dirty="0">
                <a:solidFill>
                  <a:srgbClr val="1C2B38"/>
                </a:solidFill>
              </a:rPr>
              <a:t>2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40680" y="2999232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0" y="3090672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>
                <a:solidFill>
                  <a:srgbClr val="1C2B38"/>
                </a:solidFill>
              </a:rPr>
              <a:t>6</a:t>
            </a:r>
            <a:r>
              <a:rPr lang="en-US" sz="1200" b="0" i="0" dirty="0">
                <a:solidFill>
                  <a:srgbClr val="1C2B38"/>
                </a:solidFill>
              </a:rPr>
              <a:t>0</a:t>
            </a:r>
            <a:r>
              <a:rPr sz="1200" b="0" i="0" dirty="0">
                <a:solidFill>
                  <a:srgbClr val="1C2B38"/>
                </a:solidFill>
              </a:rPr>
              <a:t>,</a:t>
            </a:r>
            <a:r>
              <a:rPr lang="en-US" sz="1200" b="0" i="0" dirty="0">
                <a:solidFill>
                  <a:srgbClr val="1C2B38"/>
                </a:solidFill>
              </a:rPr>
              <a:t>3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2999232"/>
            <a:ext cx="138988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903720" y="3090672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rgbClr val="1C2B38"/>
                </a:solidFill>
              </a:rPr>
              <a:t>72,7</a:t>
            </a:r>
            <a:r>
              <a:rPr sz="1200" b="0" i="0" dirty="0">
                <a:solidFill>
                  <a:srgbClr val="1C2B38"/>
                </a:solidFill>
              </a:rPr>
              <a:t>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474720"/>
            <a:ext cx="2350008" cy="4754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356616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XGBoost Ottimizzato 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51760" y="3474720"/>
            <a:ext cx="1344168" cy="4754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97479" y="3566160"/>
            <a:ext cx="1280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4A90B4"/>
                </a:solidFill>
              </a:rPr>
              <a:t>8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,</a:t>
            </a:r>
            <a:r>
              <a:rPr lang="en-US" sz="1200" b="1" dirty="0">
                <a:solidFill>
                  <a:srgbClr val="4A90B4"/>
                </a:solidFill>
              </a:rPr>
              <a:t>8</a:t>
            </a:r>
            <a:r>
              <a:rPr sz="1200" b="1" i="0" dirty="0">
                <a:solidFill>
                  <a:srgbClr val="4A90B4"/>
                </a:solidFill>
              </a:rPr>
              <a:t>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023360" y="3474720"/>
            <a:ext cx="1389888" cy="4754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069080" y="3566160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4A90B4"/>
                </a:solidFill>
              </a:rPr>
              <a:t>84,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40680" y="3474720"/>
            <a:ext cx="1389888" cy="4754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0" y="3566160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4A90B4"/>
                </a:solidFill>
              </a:rPr>
              <a:t>6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,</a:t>
            </a:r>
            <a:r>
              <a:rPr lang="en-US" sz="1200" b="1" dirty="0">
                <a:solidFill>
                  <a:srgbClr val="4A90B4"/>
                </a:solidFill>
              </a:rPr>
              <a:t>6</a:t>
            </a:r>
            <a:r>
              <a:rPr sz="1200" b="1" i="0" dirty="0">
                <a:solidFill>
                  <a:srgbClr val="4A90B4"/>
                </a:solidFill>
              </a:rPr>
              <a:t>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58000" y="3474720"/>
            <a:ext cx="1389888" cy="4754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903720" y="3566160"/>
            <a:ext cx="13258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4A90B4"/>
                </a:solidFill>
              </a:rPr>
              <a:t>7</a:t>
            </a:r>
            <a:r>
              <a:rPr lang="en-US" sz="1200" b="1" i="0" dirty="0">
                <a:solidFill>
                  <a:srgbClr val="4A90B4"/>
                </a:solidFill>
              </a:rPr>
              <a:t>3</a:t>
            </a:r>
            <a:r>
              <a:rPr sz="1200" b="1" i="0" dirty="0">
                <a:solidFill>
                  <a:srgbClr val="4A90B4"/>
                </a:solidFill>
              </a:rPr>
              <a:t>,</a:t>
            </a:r>
            <a:r>
              <a:rPr lang="en-US" sz="1200" b="1" i="0" dirty="0">
                <a:solidFill>
                  <a:srgbClr val="4A90B4"/>
                </a:solidFill>
              </a:rPr>
              <a:t>0</a:t>
            </a:r>
            <a:r>
              <a:rPr sz="1200" b="1" i="0" dirty="0">
                <a:solidFill>
                  <a:srgbClr val="4A90B4"/>
                </a:solidFill>
              </a:rPr>
              <a:t>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 dirty="0">
                <a:solidFill>
                  <a:srgbClr val="5D6D7E"/>
                </a:solidFill>
              </a:rPr>
              <a:t>★ Il </a:t>
            </a:r>
            <a:r>
              <a:rPr sz="1100" b="0" i="1" dirty="0" err="1">
                <a:solidFill>
                  <a:srgbClr val="5D6D7E"/>
                </a:solidFill>
              </a:rPr>
              <a:t>modello</a:t>
            </a:r>
            <a:r>
              <a:rPr sz="1100" b="0" i="1" dirty="0">
                <a:solidFill>
                  <a:srgbClr val="5D6D7E"/>
                </a:solidFill>
              </a:rPr>
              <a:t> </a:t>
            </a:r>
            <a:r>
              <a:rPr sz="1100" b="0" i="1" dirty="0" err="1">
                <a:solidFill>
                  <a:srgbClr val="5D6D7E"/>
                </a:solidFill>
              </a:rPr>
              <a:t>ottimizzato</a:t>
            </a:r>
            <a:r>
              <a:rPr sz="1100" b="0" i="1" dirty="0">
                <a:solidFill>
                  <a:srgbClr val="5D6D7E"/>
                </a:solidFill>
              </a:rPr>
              <a:t> con 50 prove di Bayesian Optimization — </a:t>
            </a:r>
            <a:r>
              <a:rPr sz="1100" b="0" i="1" dirty="0" err="1">
                <a:solidFill>
                  <a:srgbClr val="5D6D7E"/>
                </a:solidFill>
              </a:rPr>
              <a:t>miglior</a:t>
            </a:r>
            <a:r>
              <a:rPr sz="1100" b="0" i="1" dirty="0">
                <a:solidFill>
                  <a:srgbClr val="5D6D7E"/>
                </a:solidFill>
              </a:rPr>
              <a:t> </a:t>
            </a:r>
            <a:r>
              <a:rPr sz="1100" b="0" i="1" dirty="0" err="1">
                <a:solidFill>
                  <a:srgbClr val="5D6D7E"/>
                </a:solidFill>
              </a:rPr>
              <a:t>bilancio</a:t>
            </a:r>
            <a:r>
              <a:rPr sz="1100" b="0" i="1" dirty="0">
                <a:solidFill>
                  <a:srgbClr val="5D6D7E"/>
                </a:solidFill>
              </a:rPr>
              <a:t> recall/performance.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77724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Il Valore Economico del Modello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8595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2C3E50"/>
                </a:solidFill>
              </a:rPr>
              <a:t>Cosa </a:t>
            </a:r>
            <a:r>
              <a:rPr sz="1500" b="1" i="0" dirty="0" err="1">
                <a:solidFill>
                  <a:srgbClr val="2C3E50"/>
                </a:solidFill>
              </a:rPr>
              <a:t>significa</a:t>
            </a:r>
            <a:r>
              <a:rPr sz="1500" b="1" i="0" dirty="0">
                <a:solidFill>
                  <a:srgbClr val="2C3E50"/>
                </a:solidFill>
              </a:rPr>
              <a:t> 8</a:t>
            </a:r>
            <a:r>
              <a:rPr lang="en-US" sz="1500" b="1" i="0" dirty="0">
                <a:solidFill>
                  <a:srgbClr val="2C3E50"/>
                </a:solidFill>
              </a:rPr>
              <a:t>1</a:t>
            </a:r>
            <a:r>
              <a:rPr sz="1500" b="1" i="0" dirty="0">
                <a:solidFill>
                  <a:srgbClr val="2C3E50"/>
                </a:solidFill>
              </a:rPr>
              <a:t>,</a:t>
            </a:r>
            <a:r>
              <a:rPr lang="en-US" sz="1500" b="1" dirty="0">
                <a:solidFill>
                  <a:srgbClr val="2C3E50"/>
                </a:solidFill>
              </a:rPr>
              <a:t>8</a:t>
            </a:r>
            <a:r>
              <a:rPr sz="1500" b="1" i="0" dirty="0">
                <a:solidFill>
                  <a:srgbClr val="2C3E50"/>
                </a:solidFill>
              </a:rPr>
              <a:t>% di recall in termini economici?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502920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029200" cy="64008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C3E50"/>
                </a:solidFill>
              </a:rPr>
              <a:t>Scenario illustrativo (per 1.000 clienti a rischio):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Clienti a rischio correttamente identificati: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1920240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4A90B4"/>
                </a:solidFill>
              </a:rPr>
              <a:t>8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5000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Offerte di retention inviate: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50008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4A90B4"/>
                </a:solidFill>
              </a:rPr>
              <a:t>8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797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Tasso di successo stimato (30%):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79776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4A90B4"/>
                </a:solidFill>
              </a:rPr>
              <a:t>24</a:t>
            </a:r>
            <a:r>
              <a:rPr lang="en-US" sz="1200" b="1" i="0" dirty="0">
                <a:solidFill>
                  <a:srgbClr val="4A90B4"/>
                </a:solidFill>
              </a:rPr>
              <a:t>5</a:t>
            </a:r>
            <a:r>
              <a:rPr sz="1200" b="1" i="0" dirty="0">
                <a:solidFill>
                  <a:srgbClr val="4A90B4"/>
                </a:solidFill>
              </a:rPr>
              <a:t> </a:t>
            </a:r>
            <a:r>
              <a:rPr sz="1200" b="1" i="0" dirty="0" err="1">
                <a:solidFill>
                  <a:srgbClr val="4A90B4"/>
                </a:solidFill>
              </a:rPr>
              <a:t>clienti</a:t>
            </a:r>
            <a:r>
              <a:rPr sz="1200" b="1" i="0" dirty="0">
                <a:solidFill>
                  <a:srgbClr val="4A90B4"/>
                </a:solidFill>
              </a:rPr>
              <a:t> </a:t>
            </a:r>
            <a:r>
              <a:rPr sz="1200" b="1" i="0" dirty="0" err="1">
                <a:solidFill>
                  <a:srgbClr val="4A90B4"/>
                </a:solidFill>
              </a:rPr>
              <a:t>trattenuti</a:t>
            </a:r>
            <a:endParaRPr sz="1200" b="1" i="0" dirty="0">
              <a:solidFill>
                <a:srgbClr val="4A90B4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320954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Valore medio cliente / anno: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09544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4A90B4"/>
                </a:solidFill>
              </a:rPr>
              <a:t>~7</a:t>
            </a:r>
            <a:r>
              <a:rPr lang="en-US" sz="1200" b="1" i="0" dirty="0">
                <a:solidFill>
                  <a:srgbClr val="4A90B4"/>
                </a:solidFill>
              </a:rPr>
              <a:t>8</a:t>
            </a:r>
            <a:r>
              <a:rPr sz="1200" b="1" i="0" dirty="0">
                <a:solidFill>
                  <a:srgbClr val="4A90B4"/>
                </a:solidFill>
              </a:rPr>
              <a:t>0 €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6393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C2B38"/>
                </a:solidFill>
              </a:rPr>
              <a:t>Ricavo recuperato stimato: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639312"/>
            <a:ext cx="1554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 dirty="0">
                <a:solidFill>
                  <a:srgbClr val="4A90B4"/>
                </a:solidFill>
              </a:rPr>
              <a:t>≈ 1</a:t>
            </a:r>
            <a:r>
              <a:rPr lang="en-US" sz="1200" b="1" i="0" dirty="0">
                <a:solidFill>
                  <a:srgbClr val="4A90B4"/>
                </a:solidFill>
              </a:rPr>
              <a:t>9</a:t>
            </a:r>
            <a:r>
              <a:rPr lang="en-US" sz="1200" b="1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.</a:t>
            </a:r>
            <a:r>
              <a:rPr lang="en-US" sz="1200" b="1" i="0" dirty="0">
                <a:solidFill>
                  <a:srgbClr val="4A90B4"/>
                </a:solidFill>
              </a:rPr>
              <a:t>1</a:t>
            </a:r>
            <a:r>
              <a:rPr sz="1200" b="1" i="0" dirty="0">
                <a:solidFill>
                  <a:srgbClr val="4A90B4"/>
                </a:solidFill>
              </a:rPr>
              <a:t>00 € / anno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1417320"/>
            <a:ext cx="3291840" cy="2697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77840" y="1417320"/>
            <a:ext cx="3291840" cy="64008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235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8DF"/>
                </a:solidFill>
              </a:rPr>
              <a:t>Risparmio stimato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2011680"/>
            <a:ext cx="32004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 dirty="0">
                <a:solidFill>
                  <a:srgbClr val="85C1E9"/>
                </a:solidFill>
              </a:rPr>
              <a:t>≈ </a:t>
            </a:r>
            <a:r>
              <a:rPr lang="en-US" sz="4200" b="1" dirty="0">
                <a:solidFill>
                  <a:srgbClr val="85C1E9"/>
                </a:solidFill>
              </a:rPr>
              <a:t>191</a:t>
            </a:r>
            <a:r>
              <a:rPr sz="4200" b="1" i="0" dirty="0">
                <a:solidFill>
                  <a:srgbClr val="85C1E9"/>
                </a:solidFill>
              </a:rPr>
              <a:t>K 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292608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8DF"/>
                </a:solidFill>
              </a:rPr>
              <a:t>ogni anno
per 1.000 clienti a rischio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2976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5D6D7E"/>
                </a:solidFill>
              </a:rPr>
              <a:t>Nota: Stime illustrative. Il modello può essere calibrato sui dati reali dell'azienda.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9753"/>
            <a:ext cx="9144000" cy="51435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36665" y="31967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>
                    <a:lumMod val="95000"/>
                  </a:schemeClr>
                </a:solidFill>
              </a:rPr>
              <a:t>Azioni </a:t>
            </a:r>
            <a:r>
              <a:rPr lang="en-US" sz="2400" b="1" dirty="0" err="1">
                <a:solidFill>
                  <a:schemeClr val="bg1">
                    <a:lumMod val="95000"/>
                  </a:schemeClr>
                </a:solidFill>
              </a:rPr>
              <a:t>Consigliate</a:t>
            </a:r>
            <a:endParaRPr lang="it-IT" sz="2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65760" y="1004363"/>
            <a:ext cx="307571" cy="262081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9135" y="986261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025605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Convertire i clienti mensili a contratti a lungo termine</a:t>
            </a:r>
            <a:r>
              <a:rPr lang="it-IT" sz="1200" i="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39586"/>
            <a:ext cx="307571" cy="276999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556925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Migliorare l’esperienza della fibra ottica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89956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Investire nell’</a:t>
            </a:r>
            <a:r>
              <a:rPr lang="it-IT" sz="1200" dirty="0" err="1">
                <a:solidFill>
                  <a:schemeClr val="bg1">
                    <a:lumMod val="95000"/>
                  </a:schemeClr>
                </a:solidFill>
              </a:rPr>
              <a:t>onboarding</a:t>
            </a:r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 dei nuovi clienti (mesi 0–12)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699766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Incentivare l’adozione del pagamento automatico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389120"/>
            <a:ext cx="8412480" cy="502920"/>
          </a:xfrm>
          <a:prstGeom prst="rect">
            <a:avLst/>
          </a:prstGeom>
          <a:solidFill>
            <a:srgbClr val="3A4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73152" cy="502920"/>
          </a:xfrm>
          <a:prstGeom prst="rect">
            <a:avLst/>
          </a:prstGeom>
          <a:solidFill>
            <a:srgbClr val="85C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4453128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 dirty="0" err="1">
                <a:solidFill>
                  <a:srgbClr val="B0C8DF"/>
                </a:solidFill>
              </a:rPr>
              <a:t>Prossimo</a:t>
            </a:r>
            <a:r>
              <a:rPr sz="1150" b="0" i="1" dirty="0">
                <a:solidFill>
                  <a:srgbClr val="B0C8DF"/>
                </a:solidFill>
              </a:rPr>
              <a:t> </a:t>
            </a:r>
            <a:r>
              <a:rPr sz="1150" b="0" i="1" dirty="0" err="1">
                <a:solidFill>
                  <a:srgbClr val="B0C8DF"/>
                </a:solidFill>
              </a:rPr>
              <a:t>passo</a:t>
            </a:r>
            <a:r>
              <a:rPr sz="1150" b="0" i="1" dirty="0">
                <a:solidFill>
                  <a:srgbClr val="B0C8DF"/>
                </a:solidFill>
              </a:rPr>
              <a:t>: </a:t>
            </a:r>
            <a:r>
              <a:rPr sz="1150" b="0" i="1" dirty="0" err="1">
                <a:solidFill>
                  <a:srgbClr val="B0C8DF"/>
                </a:solidFill>
              </a:rPr>
              <a:t>integrare</a:t>
            </a:r>
            <a:r>
              <a:rPr sz="1150" b="0" i="1" dirty="0">
                <a:solidFill>
                  <a:srgbClr val="B0C8DF"/>
                </a:solidFill>
              </a:rPr>
              <a:t> il </a:t>
            </a:r>
            <a:r>
              <a:rPr sz="1150" b="0" i="1" dirty="0" err="1">
                <a:solidFill>
                  <a:srgbClr val="B0C8DF"/>
                </a:solidFill>
              </a:rPr>
              <a:t>modello</a:t>
            </a:r>
            <a:r>
              <a:rPr sz="1150" b="0" i="1" dirty="0">
                <a:solidFill>
                  <a:srgbClr val="B0C8DF"/>
                </a:solidFill>
              </a:rPr>
              <a:t> con </a:t>
            </a:r>
            <a:r>
              <a:rPr sz="1150" b="0" i="1" dirty="0" err="1">
                <a:solidFill>
                  <a:srgbClr val="B0C8DF"/>
                </a:solidFill>
              </a:rPr>
              <a:t>i</a:t>
            </a:r>
            <a:r>
              <a:rPr sz="1150" b="0" i="1" dirty="0">
                <a:solidFill>
                  <a:srgbClr val="B0C8DF"/>
                </a:solidFill>
              </a:rPr>
              <a:t> </a:t>
            </a:r>
            <a:r>
              <a:rPr sz="1150" b="0" i="1" dirty="0" err="1">
                <a:solidFill>
                  <a:srgbClr val="B0C8DF"/>
                </a:solidFill>
              </a:rPr>
              <a:t>dati</a:t>
            </a:r>
            <a:r>
              <a:rPr sz="1150" b="0" i="1" dirty="0">
                <a:solidFill>
                  <a:srgbClr val="B0C8DF"/>
                </a:solidFill>
              </a:rPr>
              <a:t> </a:t>
            </a:r>
            <a:r>
              <a:rPr sz="1150" b="0" i="1" dirty="0" err="1">
                <a:solidFill>
                  <a:srgbClr val="B0C8DF"/>
                </a:solidFill>
              </a:rPr>
              <a:t>reali</a:t>
            </a:r>
            <a:r>
              <a:rPr sz="1150" b="0" i="1" dirty="0">
                <a:solidFill>
                  <a:srgbClr val="B0C8DF"/>
                </a:solidFill>
              </a:rPr>
              <a:t> </a:t>
            </a:r>
            <a:r>
              <a:rPr sz="1150" b="0" i="1" dirty="0" err="1">
                <a:solidFill>
                  <a:srgbClr val="B0C8DF"/>
                </a:solidFill>
              </a:rPr>
              <a:t>dell'azienda</a:t>
            </a:r>
            <a:r>
              <a:rPr sz="1150" b="0" i="1" dirty="0">
                <a:solidFill>
                  <a:srgbClr val="B0C8DF"/>
                </a:solidFill>
              </a:rPr>
              <a:t> per </a:t>
            </a:r>
            <a:r>
              <a:rPr sz="1150" b="0" i="1" dirty="0" err="1">
                <a:solidFill>
                  <a:srgbClr val="B0C8DF"/>
                </a:solidFill>
              </a:rPr>
              <a:t>generare</a:t>
            </a:r>
            <a:r>
              <a:rPr sz="1150" b="0" i="1" dirty="0">
                <a:solidFill>
                  <a:srgbClr val="B0C8DF"/>
                </a:solidFill>
              </a:rPr>
              <a:t> la prima </a:t>
            </a:r>
            <a:r>
              <a:rPr sz="1150" b="0" i="1" dirty="0" err="1">
                <a:solidFill>
                  <a:srgbClr val="B0C8DF"/>
                </a:solidFill>
              </a:rPr>
              <a:t>lista</a:t>
            </a:r>
            <a:r>
              <a:rPr sz="1150" b="0" i="1" dirty="0">
                <a:solidFill>
                  <a:srgbClr val="B0C8DF"/>
                </a:solidFill>
              </a:rPr>
              <a:t> </a:t>
            </a:r>
            <a:r>
              <a:rPr sz="1150" b="0" i="1" dirty="0" err="1">
                <a:solidFill>
                  <a:srgbClr val="B0C8DF"/>
                </a:solidFill>
              </a:rPr>
              <a:t>clienti</a:t>
            </a:r>
            <a:r>
              <a:rPr sz="1150" b="0" i="1" dirty="0">
                <a:solidFill>
                  <a:srgbClr val="B0C8DF"/>
                </a:solidFill>
              </a:rPr>
              <a:t> a </a:t>
            </a:r>
            <a:r>
              <a:rPr sz="1150" b="0" i="1" dirty="0" err="1">
                <a:solidFill>
                  <a:srgbClr val="B0C8DF"/>
                </a:solidFill>
              </a:rPr>
              <a:t>rischio</a:t>
            </a:r>
            <a:r>
              <a:rPr sz="1150" b="0" i="1" dirty="0">
                <a:solidFill>
                  <a:srgbClr val="B0C8DF"/>
                </a:solidFill>
              </a:rPr>
              <a:t> in </a:t>
            </a:r>
            <a:r>
              <a:rPr sz="1150" b="0" i="1" dirty="0" err="1">
                <a:solidFill>
                  <a:srgbClr val="B0C8DF"/>
                </a:solidFill>
              </a:rPr>
              <a:t>produzione</a:t>
            </a:r>
            <a:r>
              <a:rPr sz="1150" b="0" i="1" dirty="0">
                <a:solidFill>
                  <a:srgbClr val="B0C8DF"/>
                </a:solidFill>
              </a:rPr>
              <a:t>.</a:t>
            </a:r>
          </a:p>
        </p:txBody>
      </p:sp>
      <p:sp>
        <p:nvSpPr>
          <p:cNvPr id="22" name="Rectangle 7">
            <a:extLst>
              <a:ext uri="{FF2B5EF4-FFF2-40B4-BE49-F238E27FC236}">
                <a16:creationId xmlns:a16="http://schemas.microsoft.com/office/drawing/2014/main" id="{B1810F29-B8A2-C8E6-A3AE-DE29B2A3356D}"/>
              </a:ext>
            </a:extLst>
          </p:cNvPr>
          <p:cNvSpPr/>
          <p:nvPr/>
        </p:nvSpPr>
        <p:spPr>
          <a:xfrm>
            <a:off x="418407" y="3836387"/>
            <a:ext cx="307571" cy="276999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4FC74A6D-AF7A-D105-1B4B-8D33F3CC4676}"/>
              </a:ext>
            </a:extLst>
          </p:cNvPr>
          <p:cNvSpPr/>
          <p:nvPr/>
        </p:nvSpPr>
        <p:spPr>
          <a:xfrm>
            <a:off x="378229" y="2093767"/>
            <a:ext cx="307571" cy="276999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B31BC525-3F7F-966F-973D-5753D64E6564}"/>
              </a:ext>
            </a:extLst>
          </p:cNvPr>
          <p:cNvSpPr/>
          <p:nvPr/>
        </p:nvSpPr>
        <p:spPr>
          <a:xfrm>
            <a:off x="404552" y="2696024"/>
            <a:ext cx="307571" cy="276999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135" y="2094889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457" y="2680634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14">
            <a:extLst>
              <a:ext uri="{FF2B5EF4-FFF2-40B4-BE49-F238E27FC236}">
                <a16:creationId xmlns:a16="http://schemas.microsoft.com/office/drawing/2014/main" id="{C6CE36B3-597C-B52B-BD7F-2FFC37B4334D}"/>
              </a:ext>
            </a:extLst>
          </p:cNvPr>
          <p:cNvSpPr txBox="1"/>
          <p:nvPr/>
        </p:nvSpPr>
        <p:spPr>
          <a:xfrm>
            <a:off x="336665" y="1515663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26" name="Rectangle 7">
            <a:extLst>
              <a:ext uri="{FF2B5EF4-FFF2-40B4-BE49-F238E27FC236}">
                <a16:creationId xmlns:a16="http://schemas.microsoft.com/office/drawing/2014/main" id="{7C3B2301-D490-686E-E7C8-A9F0C6E77B73}"/>
              </a:ext>
            </a:extLst>
          </p:cNvPr>
          <p:cNvSpPr/>
          <p:nvPr/>
        </p:nvSpPr>
        <p:spPr>
          <a:xfrm>
            <a:off x="404552" y="3267444"/>
            <a:ext cx="307571" cy="276999"/>
          </a:xfrm>
          <a:prstGeom prst="rect">
            <a:avLst/>
          </a:prstGeom>
          <a:solidFill>
            <a:srgbClr val="4A9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ABE878E0-50FC-7E22-7E29-FCBFBDC52B38}"/>
              </a:ext>
            </a:extLst>
          </p:cNvPr>
          <p:cNvSpPr txBox="1"/>
          <p:nvPr/>
        </p:nvSpPr>
        <p:spPr>
          <a:xfrm>
            <a:off x="868680" y="3267444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Rivolgere bundle familiari ai clienti con linea singola</a:t>
            </a: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BAC77196-6E8C-BC42-1442-E51CDA79F8C8}"/>
              </a:ext>
            </a:extLst>
          </p:cNvPr>
          <p:cNvSpPr txBox="1"/>
          <p:nvPr/>
        </p:nvSpPr>
        <p:spPr>
          <a:xfrm>
            <a:off x="868680" y="3828282"/>
            <a:ext cx="78638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200" dirty="0">
                <a:solidFill>
                  <a:schemeClr val="bg1">
                    <a:lumMod val="95000"/>
                  </a:schemeClr>
                </a:solidFill>
              </a:rPr>
              <a:t>Creare un programma di supporto per gli anziani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FA2BE453-A3E7-B837-D953-3D7D4D94D8A9}"/>
              </a:ext>
            </a:extLst>
          </p:cNvPr>
          <p:cNvSpPr txBox="1"/>
          <p:nvPr/>
        </p:nvSpPr>
        <p:spPr>
          <a:xfrm>
            <a:off x="389312" y="3240307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sz="1400" b="1" i="0" dirty="0">
              <a:solidFill>
                <a:srgbClr val="FFFFFF"/>
              </a:solidFill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314B53F5-A735-B5B6-49D7-3C53F20A36D9}"/>
              </a:ext>
            </a:extLst>
          </p:cNvPr>
          <p:cNvSpPr txBox="1"/>
          <p:nvPr/>
        </p:nvSpPr>
        <p:spPr>
          <a:xfrm>
            <a:off x="389312" y="3812892"/>
            <a:ext cx="365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sz="14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820</Words>
  <Application>Microsoft Macintosh PowerPoint</Application>
  <PresentationFormat>Presentazione su schermo (16:9)</PresentationFormat>
  <Paragraphs>142</Paragraphs>
  <Slides>10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Kamila Shakhpazova</cp:lastModifiedBy>
  <cp:revision>3</cp:revision>
  <dcterms:created xsi:type="dcterms:W3CDTF">2013-01-27T09:14:16Z</dcterms:created>
  <dcterms:modified xsi:type="dcterms:W3CDTF">2026-03-18T16:11:08Z</dcterms:modified>
  <cp:category/>
</cp:coreProperties>
</file>